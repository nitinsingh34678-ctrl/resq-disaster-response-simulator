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c83f6e7-ef23-bb95-8a2e-8147fc10a254}">
          <p14:sldIdLst>
            <p14:sldId id="256"/>
            <p14:sldId id="257"/>
            <p14:sldId id="258"/>
            <p14:sldId id="259"/>
          </p14:sldIdLst>
        </p14:section>
        <p14:section name="Solution" id="{28feddc4-b97e-a9f4-0a6b-20d6c7c3b8f2}">
          <p14:sldIdLst>
            <p14:sldId id="260"/>
            <p14:sldId id="261"/>
            <p14:sldId id="262"/>
            <p14:sldId id="263"/>
          </p14:sldIdLst>
        </p14:section>
        <p14:section name="Progress &amp; Roadmap" id="{38a174cd-ee02-df5a-7fc4-c0cd98af1449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graphice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9823" y="292608"/>
            <a:ext cx="713232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15875">
            <a:solidFill>
              <a:srgbClr val="14376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Department of Computer Science &amp; Engineering | Graphic Era (Deemed to be University)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20040"/>
            <a:ext cx="100885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38100">
            <a:solidFill>
              <a:srgbClr val="143769"/>
            </a:solidFill>
            <a:prstDash val="solid"/>
          </a:ln>
        </p:spPr>
      </p:sp>
      <p:pic>
        <p:nvPicPr>
          <p:cNvPr id="3" name="Image 0" descr="/home/claude/deck/graphice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200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22960" y="1417320"/>
            <a:ext cx="1054577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822960" y="14173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PROJECT-BASED LEARNING</a:t>
            </a:r>
            <a:endParaRPr lang="en-US" sz="4400" dirty="0"/>
          </a:p>
        </p:txBody>
      </p:sp>
      <p:sp>
        <p:nvSpPr>
          <p:cNvPr id="3" name="Subtitle block"/>
          <p:cNvSpPr txBox="1"/>
          <p:nvPr/>
        </p:nvSpPr>
        <p:spPr>
          <a:xfrm>
            <a:off x="822960" y="2286000"/>
            <a:ext cx="10545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3000" dirty="0">
                <a:solidFill>
                  <a:schemeClr val="tx1"/>
                </a:solidFill>
              </a:rPr>
              <a:t>PHASE-II EVALUATION</a:t>
            </a:r>
            <a:endParaRPr lang="en-US" sz="3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2"/>
                </a:solidFill>
              </a:rPr>
              <a:t>RESQ</a:t>
            </a:r>
            <a:endParaRPr lang="en-US" sz="3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Intelligent Disaster Rescue &amp; Emergency Response Simulator</a:t>
            </a:r>
            <a:endParaRPr lang="en-US" sz="30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1900" i="1" dirty="0">
                <a:solidFill>
                  <a:schemeClr val="tx2"/>
                </a:solidFill>
              </a:rPr>
              <a:t>“Algorithms That Save Lives”</a:t>
            </a:r>
            <a:endParaRPr lang="en-US" sz="30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Team ID: DSCPP-III-2026-T117   |   Mentor: Dr. Prabhdeep Singh</a:t>
            </a:r>
            <a:endParaRPr lang="en-US" sz="3000" dirty="0"/>
          </a:p>
        </p:txBody>
      </p:sp>
      <p:sp>
        <p:nvSpPr>
          <p:cNvPr id="4" name="Department block"/>
          <p:cNvSpPr txBox="1"/>
          <p:nvPr/>
        </p:nvSpPr>
        <p:spPr>
          <a:xfrm>
            <a:off x="822960" y="54406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Department of Computer Science &amp; Engineering</a:t>
            </a:r>
            <a:endParaRPr lang="en-US" sz="17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Graphic Era (Deemed to be University), Dehradun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Academic Session 2026–27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200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Team &amp; Mentor Details</a:t>
            </a:r>
            <a:endParaRPr lang="en-US" sz="3000" dirty="0"/>
          </a:p>
        </p:txBody>
      </p:sp>
      <p:sp>
        <p:nvSpPr>
          <p:cNvPr id="3" name="Team Information"/>
          <p:cNvSpPr/>
          <p:nvPr/>
        </p:nvSpPr>
        <p:spPr>
          <a:xfrm>
            <a:off x="548640" y="141732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Team Information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Team ID: DSCPP-III-2026-T117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Semester: 3rd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Sections: ML-1, ML-2, ML-4, DS-2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Domain: Emergency Response (DSA + OOP)</a:t>
            </a:r>
            <a:endParaRPr lang="en-US" sz="2000" dirty="0"/>
          </a:p>
        </p:txBody>
      </p:sp>
      <p:sp>
        <p:nvSpPr>
          <p:cNvPr id="4" name="Team Members"/>
          <p:cNvSpPr/>
          <p:nvPr/>
        </p:nvSpPr>
        <p:spPr>
          <a:xfrm>
            <a:off x="6233008" y="141732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Team Members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Vanya Rathi (Leader) — 2510383410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Akshat Dobhal — 2510370353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Ayush Kandwal — 2510380235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Nitin Singh — 2510370229</a:t>
            </a:r>
            <a:endParaRPr lang="en-US" sz="2000" dirty="0"/>
          </a:p>
        </p:txBody>
      </p:sp>
      <p:sp>
        <p:nvSpPr>
          <p:cNvPr id="5" name="Mentor"/>
          <p:cNvSpPr/>
          <p:nvPr/>
        </p:nvSpPr>
        <p:spPr>
          <a:xfrm>
            <a:off x="548640" y="379476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Mentor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Dr. Prabhdeep Singh</a:t>
            </a:r>
            <a:endParaRPr lang="en-US" sz="2000" dirty="0"/>
          </a:p>
        </p:txBody>
      </p:sp>
      <p:sp>
        <p:nvSpPr>
          <p:cNvPr id="6" name="Interactions"/>
          <p:cNvSpPr txBox="1"/>
          <p:nvPr/>
        </p:nvSpPr>
        <p:spPr>
          <a:xfrm>
            <a:off x="7619695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Interactions completed: </a:t>
            </a:r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02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200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 &amp; Motivation</a:t>
            </a:r>
            <a:endParaRPr lang="en-US" sz="3000" dirty="0"/>
          </a:p>
        </p:txBody>
      </p:sp>
      <p:sp>
        <p:nvSpPr>
          <p:cNvPr id="3" name="Problem Statement"/>
          <p:cNvSpPr/>
          <p:nvPr/>
        </p:nvSpPr>
        <p:spPr>
          <a:xfrm>
            <a:off x="548640" y="1417320"/>
            <a:ext cx="110944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Problem Statement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During a disaster, many people need help at once. We want to model who should be reached first and which open road a rescue team should take.</a:t>
            </a:r>
            <a:endParaRPr lang="en-US" sz="2000" dirty="0"/>
          </a:p>
        </p:txBody>
      </p:sp>
      <p:sp>
        <p:nvSpPr>
          <p:cNvPr id="4" name="Motivation"/>
          <p:cNvSpPr/>
          <p:nvPr/>
        </p:nvSpPr>
        <p:spPr>
          <a:xfrm>
            <a:off x="548640" y="306324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Motivation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Requests do not all have the same urgency.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Road closures can change the best route.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A simple model lets us inspect these decisions.</a:t>
            </a:r>
            <a:endParaRPr lang="en-US" sz="2000" dirty="0"/>
          </a:p>
        </p:txBody>
      </p:sp>
      <p:sp>
        <p:nvSpPr>
          <p:cNvPr id="5" name="Target Users"/>
          <p:cNvSpPr/>
          <p:nvPr/>
        </p:nvSpPr>
        <p:spPr>
          <a:xfrm>
            <a:off x="6233008" y="306324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Target Users / Stakeholders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Students learning DSA and OOP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Mentors reviewing algorithm behaviour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Training demonstrations—not real dispatch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200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3" name="Project Objectives"/>
          <p:cNvSpPr/>
          <p:nvPr/>
        </p:nvSpPr>
        <p:spPr>
          <a:xfrm>
            <a:off x="548640" y="1417320"/>
            <a:ext cx="11094415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Project Objectives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Register victims and rank requests by urgency.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Find a least-cost open route using Dijkstra.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Assign a free team and track rescue status.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Compare the native C/C++ design with the web demo.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Check queues, blocked roads and completion counts.</a:t>
            </a:r>
            <a:endParaRPr lang="en-US" sz="2000" dirty="0"/>
          </a:p>
        </p:txBody>
      </p:sp>
      <p:sp>
        <p:nvSpPr>
          <p:cNvPr id="4" name="Key Objective"/>
          <p:cNvSpPr/>
          <p:nvPr/>
        </p:nvSpPr>
        <p:spPr>
          <a:xfrm>
            <a:off x="548640" y="4297680"/>
            <a:ext cx="1109441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Key Objective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Show a complete simulated rescue from victim entry to completion.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200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Phase-II Solution &amp; Demonstration</a:t>
            </a:r>
            <a:endParaRPr lang="en-US" sz="3000" dirty="0"/>
          </a:p>
        </p:txBody>
      </p:sp>
      <p:sp>
        <p:nvSpPr>
          <p:cNvPr id="3" name="Our Approach"/>
          <p:cNvSpPr/>
          <p:nvPr/>
        </p:nvSpPr>
        <p:spPr>
          <a:xfrm>
            <a:off x="548640" y="1371600"/>
            <a:ext cx="1109441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Our Approach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Victim entry → urgency queue → available team → Dijkstra route → movement → status update. No team or no route: the request stays pending.</a:t>
            </a:r>
            <a:endParaRPr lang="en-US" sz="2000" dirty="0"/>
          </a:p>
        </p:txBody>
      </p:sp>
      <p:pic>
        <p:nvPicPr>
          <p:cNvPr id="4" name="Route map" descr="Route ma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834640"/>
            <a:ext cx="3111991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916168"/>
            <a:ext cx="31119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Route map</a:t>
            </a:r>
            <a:endParaRPr lang="en-US" sz="1300" dirty="0"/>
          </a:p>
        </p:txBody>
      </p:sp>
      <p:pic>
        <p:nvPicPr>
          <p:cNvPr id="6" name="Dashboard" descr="Operations dashboar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991" y="3137068"/>
            <a:ext cx="7388064" cy="24126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54991" y="5659460"/>
            <a:ext cx="738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Dashboard: registered, waiting, active and completed rescues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200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Integration of PBL Course Concepts</a:t>
            </a:r>
            <a:endParaRPr lang="en-US" sz="3000" dirty="0"/>
          </a:p>
        </p:txBody>
      </p:sp>
      <p:graphicFrame>
        <p:nvGraphicFramePr>
          <p:cNvPr id="7" name="Concep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422392"/>
                <a:gridCol w="2834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Course / concept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How we use it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Implementation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Data Structures in C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Linked list, FIFO queue, max-heap, stack and graph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Native C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Dijkstra and BFS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Least-cost open route and reachable areas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 + TypeScript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OOPs with C++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Classes, private state, inheritance and virtual dispatch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Native C++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Browser demonstration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Intake, queue, route map and dashboard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Separate TypeScript demo</a:t>
                      </a:r>
                      <a:endParaRPr lang="en-US" sz="1700" dirty="0"/>
                    </a:p>
                  </a:txBody>
                  <a:tcPr marL="508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Implementation distinction"/>
          <p:cNvSpPr/>
          <p:nvPr/>
        </p:nvSpPr>
        <p:spPr>
          <a:xfrm>
            <a:off x="548640" y="4343400"/>
            <a:ext cx="1109441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Implementation distinction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Higher triage score means higher priority. The web demo is not the native C/C++ program.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200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 / Workflow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rgbClr val="14376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Victim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input</a:t>
            </a:r>
            <a:endParaRPr lang="en-US" sz="1700" dirty="0"/>
          </a:p>
        </p:txBody>
      </p:sp>
      <p:sp>
        <p:nvSpPr>
          <p:cNvPr id="4" name="Arrow 1"/>
          <p:cNvSpPr/>
          <p:nvPr/>
        </p:nvSpPr>
        <p:spPr>
          <a:xfrm>
            <a:off x="2432304" y="1920240"/>
            <a:ext cx="377876" cy="0"/>
          </a:xfrm>
          <a:prstGeom prst="line">
            <a:avLst/>
          </a:prstGeom>
          <a:noFill/>
          <a:ln w="25400">
            <a:solidFill>
              <a:srgbClr val="143769"/>
            </a:solidFill>
            <a:prstDash val="solid"/>
            <a:tailEnd type="triangle"/>
          </a:ln>
        </p:spPr>
      </p:sp>
      <p:sp>
        <p:nvSpPr>
          <p:cNvPr id="5" name="Step 2"/>
          <p:cNvSpPr/>
          <p:nvPr/>
        </p:nvSpPr>
        <p:spPr>
          <a:xfrm>
            <a:off x="2865044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rgbClr val="14376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Triage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queue</a:t>
            </a:r>
            <a:endParaRPr lang="en-US" sz="1700" dirty="0"/>
          </a:p>
        </p:txBody>
      </p:sp>
      <p:sp>
        <p:nvSpPr>
          <p:cNvPr id="6" name="Arrow 2"/>
          <p:cNvSpPr/>
          <p:nvPr/>
        </p:nvSpPr>
        <p:spPr>
          <a:xfrm>
            <a:off x="4748708" y="1920240"/>
            <a:ext cx="377876" cy="0"/>
          </a:xfrm>
          <a:prstGeom prst="line">
            <a:avLst/>
          </a:prstGeom>
          <a:noFill/>
          <a:ln w="25400">
            <a:solidFill>
              <a:srgbClr val="143769"/>
            </a:solidFill>
            <a:prstDash val="solid"/>
            <a:tailEnd type="triangle"/>
          </a:ln>
        </p:spPr>
      </p:sp>
      <p:sp>
        <p:nvSpPr>
          <p:cNvPr id="7" name="Step 3"/>
          <p:cNvSpPr/>
          <p:nvPr/>
        </p:nvSpPr>
        <p:spPr>
          <a:xfrm>
            <a:off x="5181448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rgbClr val="14376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Team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assignment</a:t>
            </a:r>
            <a:endParaRPr lang="en-US" sz="1700" dirty="0"/>
          </a:p>
        </p:txBody>
      </p:sp>
      <p:sp>
        <p:nvSpPr>
          <p:cNvPr id="8" name="Arrow 3"/>
          <p:cNvSpPr/>
          <p:nvPr/>
        </p:nvSpPr>
        <p:spPr>
          <a:xfrm>
            <a:off x="7065112" y="1920240"/>
            <a:ext cx="377876" cy="0"/>
          </a:xfrm>
          <a:prstGeom prst="line">
            <a:avLst/>
          </a:prstGeom>
          <a:noFill/>
          <a:ln w="25400">
            <a:solidFill>
              <a:srgbClr val="143769"/>
            </a:solidFill>
            <a:prstDash val="solid"/>
            <a:tailEnd type="triangle"/>
          </a:ln>
        </p:spPr>
      </p:sp>
      <p:sp>
        <p:nvSpPr>
          <p:cNvPr id="9" name="Step 4"/>
          <p:cNvSpPr/>
          <p:nvPr/>
        </p:nvSpPr>
        <p:spPr>
          <a:xfrm>
            <a:off x="7497851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rgbClr val="14376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Dijkstra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route</a:t>
            </a:r>
            <a:endParaRPr lang="en-US" sz="1700" dirty="0"/>
          </a:p>
        </p:txBody>
      </p:sp>
      <p:sp>
        <p:nvSpPr>
          <p:cNvPr id="10" name="Arrow 4"/>
          <p:cNvSpPr/>
          <p:nvPr/>
        </p:nvSpPr>
        <p:spPr>
          <a:xfrm>
            <a:off x="9381515" y="1920240"/>
            <a:ext cx="377876" cy="0"/>
          </a:xfrm>
          <a:prstGeom prst="line">
            <a:avLst/>
          </a:prstGeom>
          <a:noFill/>
          <a:ln w="25400">
            <a:solidFill>
              <a:srgbClr val="143769"/>
            </a:solidFill>
            <a:prstDash val="solid"/>
            <a:tailEnd type="triangle"/>
          </a:ln>
        </p:spPr>
      </p:sp>
      <p:sp>
        <p:nvSpPr>
          <p:cNvPr id="11" name="Step 5"/>
          <p:cNvSpPr/>
          <p:nvPr/>
        </p:nvSpPr>
        <p:spPr>
          <a:xfrm>
            <a:off x="9814255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rgbClr val="14376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Status +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dashboard</a:t>
            </a:r>
            <a:endParaRPr lang="en-US" sz="1700" dirty="0"/>
          </a:p>
        </p:txBody>
      </p:sp>
      <p:sp>
        <p:nvSpPr>
          <p:cNvPr id="12" name="Major Components"/>
          <p:cNvSpPr/>
          <p:nvPr/>
        </p:nvSpPr>
        <p:spPr>
          <a:xfrm>
            <a:off x="548640" y="274320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Major Components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Intake and queue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Weighted disaster map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Dispatcher and operation tracker</a:t>
            </a:r>
            <a:endParaRPr lang="en-US" sz="2000" dirty="0"/>
          </a:p>
        </p:txBody>
      </p:sp>
      <p:sp>
        <p:nvSpPr>
          <p:cNvPr id="13" name="Data / Control Flow"/>
          <p:cNvSpPr/>
          <p:nvPr/>
        </p:nvSpPr>
        <p:spPr>
          <a:xfrm>
            <a:off x="6233008" y="274320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Data / Control Flow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Score the request and select a free team.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Exclude blocked roads from the route.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Update the victim, team and counts on completion.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200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Technology Stack &amp; Methodology</a:t>
            </a:r>
            <a:endParaRPr lang="en-US" sz="3000" dirty="0"/>
          </a:p>
        </p:txBody>
      </p:sp>
      <p:sp>
        <p:nvSpPr>
          <p:cNvPr id="3" name="Technology Stack"/>
          <p:cNvSpPr/>
          <p:nvPr/>
        </p:nvSpPr>
        <p:spPr>
          <a:xfrm>
            <a:off x="548640" y="1417320"/>
            <a:ext cx="5410048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Technology Stack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Native: C data structures and C++ classes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Web: React and TypeScript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Map: weighted graph with SVG display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Current-session data; no shared database</a:t>
            </a:r>
            <a:endParaRPr lang="en-US" sz="2000" dirty="0"/>
          </a:p>
        </p:txBody>
      </p:sp>
      <p:sp>
        <p:nvSpPr>
          <p:cNvPr id="4" name="Development Methodology"/>
          <p:cNvSpPr/>
          <p:nvPr/>
        </p:nvSpPr>
        <p:spPr>
          <a:xfrm>
            <a:off x="6233008" y="1417320"/>
            <a:ext cx="5410048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Development Methodology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Start with the Phase-I design.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Build and inspect queue and graph modules.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Make rescue decisions visible in the demo.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Test small cases before full scenarios.</a:t>
            </a:r>
            <a:endParaRPr lang="en-US" sz="2000" dirty="0"/>
          </a:p>
        </p:txBody>
      </p:sp>
      <p:sp>
        <p:nvSpPr>
          <p:cNvPr id="5" name="Limits"/>
          <p:cNvSpPr/>
          <p:nvPr/>
        </p:nvSpPr>
        <p:spPr>
          <a:xfrm>
            <a:off x="548640" y="4114800"/>
            <a:ext cx="1109441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Limits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We use simulated costs and scores, not live GPS or a medically validated triage model.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200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Phase-II Progress &amp; Team Contribution</a:t>
            </a:r>
            <a:endParaRPr lang="en-US" sz="3000" dirty="0"/>
          </a:p>
        </p:txBody>
      </p:sp>
      <p:sp>
        <p:nvSpPr>
          <p:cNvPr id="3" name="Progress Achieved"/>
          <p:cNvSpPr/>
          <p:nvPr/>
        </p:nvSpPr>
        <p:spPr>
          <a:xfrm>
            <a:off x="548640" y="1417320"/>
            <a:ext cx="49377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Progress Achieved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Victim intake, queue, route map and dashboard built.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Fixed heap test: RED, YELLOW, GREEN.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Dijkstra costs: 5, 6, 7 to Market, Clock, Fire.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Costs are simulated—not real response times.</a:t>
            </a:r>
            <a:endParaRPr lang="en-US" sz="2000" dirty="0"/>
          </a:p>
        </p:txBody>
      </p:sp>
      <p:graphicFrame>
        <p:nvGraphicFramePr>
          <p:cNvPr id="10" name="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417320"/>
          <a:ext cx="57908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9620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Member</a:t>
                      </a:r>
                      <a:endParaRPr lang="en-US" sz="1600" dirty="0"/>
                    </a:p>
                  </a:txBody>
                  <a:tcPr marL="50800" marR="762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Contribution</a:t>
                      </a:r>
                      <a:endParaRPr lang="en-US" sz="1600" dirty="0"/>
                    </a:p>
                  </a:txBody>
                  <a:tcPr marL="50800" marR="762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Vanya Rathi</a:t>
                      </a:r>
                      <a:endParaRPr lang="en-US" sz="1600" dirty="0"/>
                    </a:p>
                  </a:txBody>
                  <a:tcPr marL="50800" marR="762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Architecture, triage logic, integration and documentation</a:t>
                      </a:r>
                      <a:endParaRPr lang="en-US" sz="1600" dirty="0"/>
                    </a:p>
                  </a:txBody>
                  <a:tcPr marL="50800" marR="762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Akshat Dobhal</a:t>
                      </a:r>
                      <a:endParaRPr lang="en-US" sz="1600" dirty="0"/>
                    </a:p>
                  </a:txBody>
                  <a:tcPr marL="50800" marR="762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Linked list, queue, priority queue and stack</a:t>
                      </a:r>
                      <a:endParaRPr lang="en-US" sz="1600" dirty="0"/>
                    </a:p>
                  </a:txBody>
                  <a:tcPr marL="50800" marR="762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Ayush Kandwal</a:t>
                      </a:r>
                      <a:endParaRPr lang="en-US" sz="1600" dirty="0"/>
                    </a:p>
                  </a:txBody>
                  <a:tcPr marL="50800" marR="762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Graph module, BFS and Dijkstra routing</a:t>
                      </a:r>
                      <a:endParaRPr lang="en-US" sz="1600" dirty="0"/>
                    </a:p>
                  </a:txBody>
                  <a:tcPr marL="50800" marR="762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Nitin Singh</a:t>
                      </a:r>
                      <a:endParaRPr lang="en-US" sz="1600" dirty="0"/>
                    </a:p>
                  </a:txBody>
                  <a:tcPr marL="50800" marR="762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C++ classes, scenario testing, dashboard and reports</a:t>
                      </a:r>
                      <a:endParaRPr lang="en-US" sz="1600" dirty="0"/>
                    </a:p>
                  </a:txBody>
                  <a:tcPr marL="50800" marR="762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43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200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Roadmap, Expected Outcomes &amp; References</a:t>
            </a:r>
            <a:endParaRPr lang="en-US" sz="3000" dirty="0"/>
          </a:p>
        </p:txBody>
      </p:sp>
      <p:sp>
        <p:nvSpPr>
          <p:cNvPr id="3" name="Roadmap"/>
          <p:cNvSpPr/>
          <p:nvPr/>
        </p:nvSpPr>
        <p:spPr>
          <a:xfrm>
            <a:off x="548640" y="1371600"/>
            <a:ext cx="5410048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Roadmap &amp; Expected Outcomes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Phase I: proposal and design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Phase II: prototype development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Phase III: boundary tests and complete scenario runs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Compare FIFO with priority scheduling and native with browser results.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▸"/>
            </a:pPr>
            <a:r>
              <a:rPr lang="en-US" sz="1800" dirty="0">
                <a:solidFill>
                  <a:schemeClr val="tx1"/>
                </a:solidFill>
              </a:rPr>
              <a:t>Prepare a user guide and class diagram.</a:t>
            </a:r>
            <a:endParaRPr lang="en-US" sz="2000" dirty="0"/>
          </a:p>
        </p:txBody>
      </p:sp>
      <p:sp>
        <p:nvSpPr>
          <p:cNvPr id="4" name="References"/>
          <p:cNvSpPr/>
          <p:nvPr/>
        </p:nvSpPr>
        <p:spPr>
          <a:xfrm>
            <a:off x="6233008" y="1371600"/>
            <a:ext cx="5410048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6350">
            <a:solidFill>
              <a:srgbClr val="EEF4FB"/>
            </a:solidFill>
          </a:ln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References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Cormen et al., </a:t>
            </a:r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Introduction to Algorithms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, 4th ed.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Dijkstra, “A note on two problems in connexion with graphs,” 1959.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Stroustrup, </a:t>
            </a:r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The C++ Programming Language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, 4th ed.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NDMA India —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ndma.gov.in</a:t>
            </a:r>
            <a:endParaRPr lang="en-US" sz="1700" dirty="0"/>
          </a:p>
        </p:txBody>
      </p:sp>
      <p:sp>
        <p:nvSpPr>
          <p:cNvPr id="5" name="Thank you"/>
          <p:cNvSpPr/>
          <p:nvPr/>
        </p:nvSpPr>
        <p:spPr>
          <a:xfrm>
            <a:off x="6233008" y="4297680"/>
            <a:ext cx="5410048" cy="100584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Thank You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Questions &amp; Suggestions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1437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U RESQ">
  <a:themeElements>
    <a:clrScheme name="GEU RESQ">
      <a:dk1>
        <a:srgbClr val="000000"/>
      </a:dk1>
      <a:lt1>
        <a:srgbClr val="FFFFFF"/>
      </a:lt1>
      <a:dk2>
        <a:srgbClr val="143769"/>
      </a:dk2>
      <a:lt2>
        <a:srgbClr val="EEF4FB"/>
      </a:lt2>
      <a:accent1>
        <a:srgbClr val="143769"/>
      </a:accent1>
      <a:accent2>
        <a:srgbClr val="5A5A5A"/>
      </a:accent2>
      <a:accent3>
        <a:srgbClr val="2E6DB4"/>
      </a:accent3>
      <a:accent4>
        <a:srgbClr val="F5F6F8"/>
      </a:accent4>
      <a:accent5>
        <a:srgbClr val="7A9CC6"/>
      </a:accent5>
      <a:accent6>
        <a:srgbClr val="F28C28"/>
      </a:accent6>
      <a:hlink>
        <a:srgbClr val="143769"/>
      </a:hlink>
      <a:folHlink>
        <a:srgbClr val="5A5A5A"/>
      </a:folHlink>
    </a:clrScheme>
    <a:fontScheme name="GEU RESQ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RESQ - Project-Based Learning Phase-II Evaluation</dc:title>
  <dc:subject>PptxGenJS Presentation</dc:subject>
  <dc:creator>Team DSCPP-III-2026-T117</dc:creator>
  <cp:lastModifiedBy>Team DSCPP-III-2026-T117</cp:lastModifiedBy>
  <cp:revision>1</cp:revision>
  <dcterms:created xsi:type="dcterms:W3CDTF">2026-10-22T04:37:46Z</dcterms:created>
  <dcterms:modified xsi:type="dcterms:W3CDTF">2026-10-22T04:37:46Z</dcterms:modified>
</cp:coreProperties>
</file>